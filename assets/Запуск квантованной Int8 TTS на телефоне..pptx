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7C27D5-4B67-4CAC-ABD3-7CD7C6DF54E2}">
  <a:tblStyle styleId="{347C27D5-4B67-4CAC-ABD3-7CD7C6DF54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8132d457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8132d457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8132d457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8132d457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b12039d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b12039d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7be84f55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7be84f55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be84f5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be84f5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7be84f55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7be84f55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9b12039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9b12039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b12039d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9b12039d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9b12039d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9b12039d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b12039d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9b12039d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9b12039d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9b12039d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be84f55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7be84f55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sWfWNCPU8_Oh6Bd7ErtT_sbNkGaEZDHJ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0AlW0e51pESSA9pDt6WGZQWmYDZgBnF9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msJbrEOLj808xpDcymmfP9E67Y_GOwSr/view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f2qmUkxqtsJsCIaBQfoQ2YxZvwL4LeQ6/view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OlQU_SSbe9Ugx6aM6nu57O75EVhNqndH/view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x0Gq4c1U67mi8xaQYEVt-Cj6GJzp1A1K/view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V0P_GrR3UpAOFVXRgvjS1sTOGIAS9cjp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EMXTAKeQnCbQXapkYS7bZ_lFUTfArH9n/view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203450"/>
            <a:ext cx="8520600" cy="63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Запуск квантизованной Int8 TTS на телефоне.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это важно?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Квантование до Int8 значительно </a:t>
            </a:r>
            <a:r>
              <a:rPr b="1" lang="ru">
                <a:solidFill>
                  <a:schemeClr val="dk1"/>
                </a:solidFill>
              </a:rPr>
              <a:t>снижает вычислительные затраты и энергопотребление,</a:t>
            </a:r>
            <a:r>
              <a:rPr lang="ru">
                <a:solidFill>
                  <a:schemeClr val="dk1"/>
                </a:solidFill>
              </a:rPr>
              <a:t> что позволяет запускать высококачественный синтез речи на мобильных чипах без перегрева и быстрой разрядки аккумулятора.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Полностью локальная обработка данных гарантирует </a:t>
            </a:r>
            <a:r>
              <a:rPr b="1" lang="ru">
                <a:solidFill>
                  <a:schemeClr val="dk1"/>
                </a:solidFill>
              </a:rPr>
              <a:t>конфиденциальность голосовой информации пользователей</a:t>
            </a:r>
            <a:r>
              <a:rPr lang="ru">
                <a:solidFill>
                  <a:schemeClr val="dk1"/>
                </a:solidFill>
              </a:rPr>
              <a:t> и обеспечивает бесперебойную работу системы даже при отсутствии интернет-соединения.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ru">
                <a:solidFill>
                  <a:schemeClr val="dk1"/>
                </a:solidFill>
              </a:rPr>
              <a:t>Сведение задержки генерации к минимуму </a:t>
            </a:r>
            <a:r>
              <a:rPr lang="ru">
                <a:solidFill>
                  <a:schemeClr val="dk1"/>
                </a:solidFill>
              </a:rPr>
              <a:t>создаёт условия для мгновенного голосового взаимодействия в навигаторах, цифровых ассистентах и приложениях для слабовидящих людей.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983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Выбор модели</a:t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193350" y="485725"/>
            <a:ext cx="8757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Qwen3-TTS был выбран для проекта благодаря своей передовой архитектуре с MTP-модулем, которая оптимально подходит для квантования и эффективной работы на мобильных устройствах. Модель сочетает мощный функционал (клонирование голоса, тонкий контроль характеристик, умная обработка текста) с возможностью сжатия до Int8 без критической потери качества, что делает её идеальным решением для запуска премиального синтеза речи на смартфонах.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375" y="2148025"/>
            <a:ext cx="6057251" cy="29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модели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1) Text Embedding + Projection - получение эмбеддингов: input_ids -&gt; text embeddings -&gt; projected text embeddings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2) Talker Prefill — обрабатывает исходный текстовый prompt и необходимые управляющие токены. Формирует первые , логиты, hidden_state и начальный KV-cache.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3) Talker decode - выполняет внутреннюю авторегрессионную генерацию по аудио-шагам. На каждом шаге использует KV-cache с предыдущей модели и предсказывает первый codec-токен g0.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4) Code generator - достраивает остальные codec-токены для текущего аудио-шага: g1...g15. Работает как внутренний цикл внутри каждого шага Talker.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/>
              <a:t>5) Vocoder - преобразует итоговые дискретные codec-коды (1, 16, T) в звуковую волну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оцениваем эксперименты?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оценки производительности считаем: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duration (s)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mean e2e latency (s)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mean rtf (s)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Качество генерации оцениваем через: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mean </a:t>
            </a:r>
            <a:r>
              <a:rPr lang="ru"/>
              <a:t>DNSMOS (https://arxiv.org/abs/2010.15258)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базовой модели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2079075" y="17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{347C27D5-4B67-4CAC-ABD3-7CD7C6DF54E2}</a:tableStyleId>
              </a:tblPr>
              <a:tblGrid>
                <a:gridCol w="1268850"/>
                <a:gridCol w="1358300"/>
                <a:gridCol w="1179350"/>
                <a:gridCol w="1179350"/>
              </a:tblGrid>
              <a:tr h="73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duration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latency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rtf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DNSMOS</a:t>
                      </a:r>
                      <a:endParaRPr b="1" sz="1100"/>
                    </a:p>
                  </a:txBody>
                  <a:tcPr marT="63500" marB="63500" marR="63500" marL="63500" anchor="ctr"/>
                </a:tc>
              </a:tr>
              <a:tr h="68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1873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182.22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10.8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3.173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pic>
        <p:nvPicPr>
          <p:cNvPr id="86" name="Google Shape;86;p18" title="original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00" y="36568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Первые эксперименты</a:t>
            </a:r>
            <a:endParaRPr/>
          </a:p>
        </p:txBody>
      </p:sp>
      <p:pic>
        <p:nvPicPr>
          <p:cNvPr id="92" name="Google Shape;92;p19" title="смех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0900" y="16669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666100" y="2124150"/>
            <a:ext cx="3234300" cy="1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Первые попытки квантизовать всю модель “в лоб” только рассмешили её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4" name="Google Shape;94;p19" title="смех2.wav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0900" y="315935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talker_decode - int4</a:t>
            </a:r>
            <a:endParaRPr/>
          </a:p>
        </p:txBody>
      </p:sp>
      <p:graphicFrame>
        <p:nvGraphicFramePr>
          <p:cNvPr id="100" name="Google Shape;100;p20"/>
          <p:cNvGraphicFramePr/>
          <p:nvPr/>
        </p:nvGraphicFramePr>
        <p:xfrm>
          <a:off x="2079075" y="180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{347C27D5-4B67-4CAC-ABD3-7CD7C6DF54E2}</a:tableStyleId>
              </a:tblPr>
              <a:tblGrid>
                <a:gridCol w="1268850"/>
                <a:gridCol w="1358300"/>
                <a:gridCol w="1179350"/>
                <a:gridCol w="1179350"/>
              </a:tblGrid>
              <a:tr h="73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duration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latency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rtf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DNSMOS</a:t>
                      </a:r>
                      <a:endParaRPr b="1" sz="1100"/>
                    </a:p>
                  </a:txBody>
                  <a:tcPr marT="63500" marB="63500" marR="63500" marL="63500" anchor="ctr"/>
                </a:tc>
              </a:tr>
              <a:tr h="68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121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12.36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3.12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3.11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pic>
        <p:nvPicPr>
          <p:cNvPr id="101" name="Google Shape;101;p20" title="talker_decode до int4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00" y="38479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talker_prefill - int8, talker_decode - int4</a:t>
            </a:r>
            <a:endParaRPr/>
          </a:p>
        </p:txBody>
      </p:sp>
      <p:graphicFrame>
        <p:nvGraphicFramePr>
          <p:cNvPr id="107" name="Google Shape;107;p21"/>
          <p:cNvGraphicFramePr/>
          <p:nvPr/>
        </p:nvGraphicFramePr>
        <p:xfrm>
          <a:off x="2079075" y="181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{347C27D5-4B67-4CAC-ABD3-7CD7C6DF54E2}</a:tableStyleId>
              </a:tblPr>
              <a:tblGrid>
                <a:gridCol w="1268850"/>
                <a:gridCol w="1358300"/>
                <a:gridCol w="1179350"/>
                <a:gridCol w="1179350"/>
              </a:tblGrid>
              <a:tr h="73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duration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latency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rtf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DNSMOS</a:t>
                      </a:r>
                      <a:endParaRPr b="1" sz="1100"/>
                    </a:p>
                  </a:txBody>
                  <a:tcPr marT="63500" marB="63500" marR="63500" marL="63500" anchor="ctr"/>
                </a:tc>
              </a:tr>
              <a:tr h="68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135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16.78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3.13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3.03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pic>
        <p:nvPicPr>
          <p:cNvPr id="108" name="Google Shape;108;p21" title="talker_prefill int8 + talker_decode int 4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00" y="38367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Embeddings - fp16, все остальное - int8</a:t>
            </a:r>
            <a:endParaRPr/>
          </a:p>
        </p:txBody>
      </p:sp>
      <p:graphicFrame>
        <p:nvGraphicFramePr>
          <p:cNvPr id="114" name="Google Shape;114;p22"/>
          <p:cNvGraphicFramePr/>
          <p:nvPr/>
        </p:nvGraphicFramePr>
        <p:xfrm>
          <a:off x="2079075" y="17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{347C27D5-4B67-4CAC-ABD3-7CD7C6DF54E2}</a:tableStyleId>
              </a:tblPr>
              <a:tblGrid>
                <a:gridCol w="1268850"/>
                <a:gridCol w="1358300"/>
                <a:gridCol w="1179350"/>
                <a:gridCol w="1179350"/>
              </a:tblGrid>
              <a:tr h="73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duration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latency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rtf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DNSMOS</a:t>
                      </a:r>
                      <a:endParaRPr b="1" sz="1100"/>
                    </a:p>
                  </a:txBody>
                  <a:tcPr marT="63500" marB="63500" marR="63500" marL="63500" anchor="ctr"/>
                </a:tc>
              </a:tr>
              <a:tr h="68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127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15.25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3.38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3.0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pic>
        <p:nvPicPr>
          <p:cNvPr id="115" name="Google Shape;115;p22" title="Embeddings FP16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2250" y="37713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Наш финальный - Embeddings - fp16,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Talker decode - int4 with extra options, others - int8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1" name="Google Shape;121;p23"/>
          <p:cNvGraphicFramePr/>
          <p:nvPr/>
        </p:nvGraphicFramePr>
        <p:xfrm>
          <a:off x="2120950" y="180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{347C27D5-4B67-4CAC-ABD3-7CD7C6DF54E2}</a:tableStyleId>
              </a:tblPr>
              <a:tblGrid>
                <a:gridCol w="1268850"/>
                <a:gridCol w="1358300"/>
                <a:gridCol w="1179350"/>
                <a:gridCol w="1179350"/>
              </a:tblGrid>
              <a:tr h="732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duration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latency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mean rtf (s)</a:t>
                      </a:r>
                      <a:endParaRPr b="1"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DNSMOS</a:t>
                      </a:r>
                      <a:endParaRPr b="1" sz="1100"/>
                    </a:p>
                  </a:txBody>
                  <a:tcPr marT="63500" marB="63500" marR="63500" marL="63500" anchor="ctr"/>
                </a:tc>
              </a:tr>
              <a:tr h="68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121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12</a:t>
                      </a:r>
                      <a:r>
                        <a:rPr lang="ru" sz="1100"/>
                        <a:t>.36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3.12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3.0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pic>
        <p:nvPicPr>
          <p:cNvPr id="122" name="Google Shape;122;p23" title="итоговая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400" y="39063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841025" y="3513425"/>
            <a:ext cx="22113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Модель стала меньше более чем в 2 раза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Android приложение</a:t>
            </a:r>
            <a:endParaRPr/>
          </a:p>
        </p:txBody>
      </p:sp>
      <p:pic>
        <p:nvPicPr>
          <p:cNvPr id="129" name="Google Shape;129;p24" title="demo-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2913" y="1017725"/>
            <a:ext cx="5218175" cy="391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